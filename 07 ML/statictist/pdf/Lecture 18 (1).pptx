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ink/ink2.xml" ContentType="application/inkml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60" r:id="rId1"/>
  </p:sldMasterIdLst>
  <p:notesMasterIdLst>
    <p:notesMasterId r:id="rId2"/>
  </p:notesMasterIdLst>
  <p:sldIdLst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type="screen16x9" cy="6858000" cx="12192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ink/ink2.xml><?xml version="1.0" encoding="utf-8"?>
<ink xmlns="http://www.w3.org/2003/InkML">
  <definitions>
    <brush xml:id="br1">
      <brushProperty name="color" value="#330066"/>
      <brushProperty name="width" value="0.05953125" units="cm"/>
      <brushProperty name="tip" value="ellipse"/>
      <brushProperty name="fitToCurve" value="1"/>
      <brushProperty name="height" value="0.05953125" units="cm"/>
    </brush>
    <context xml:id="ctx0">
      <inkSource xml:id="inkSrc0">
        <traceFormat>
          <channel name="X" units="cm" defaultValue="0" type="decimal"/>
          <channel name="Y" units="cm" defaultValue="0" type="decimal"/>
          <channel name="F" max="1023" units="dev" defaultValue="0" type="decimal"/>
        </traceFormat>
        <channelProperties>
          <channelProperty channel="X" name="resolution" value="28.36041" units="1/cm"/>
          <channelProperty channel="Y" name="resolution" value="28.36041" units="1/cm"/>
          <channelProperty channel="F" name="resolution" value="1.0" units="1/dev"/>
        </channelProperties>
      </inkSource>
    </context>
  </definitions>
</ink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6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672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673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74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675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676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99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6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01" name="Google Shape;97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102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09" name="Google Shape;103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1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11" name="Google Shape;113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13" name="Google Shape;118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22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6" name="Google Shape;123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17" name="Google Shape;124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133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93" name="Google Shape;134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142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91" name="Google Shape;143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148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89" name="Google Shape;14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155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87" name="Google Shape;156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24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83" name="Google Shape;18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19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0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57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8" name="Google Shape;23;p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 lvl="8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8629" name="Google Shape;24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0" name="Google Shape;25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1" name="Google Shape;26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60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4" name="Google Shape;29;p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45" name="Google Shape;30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6" name="Google Shape;31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7" name="Google Shape;32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6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9" name="Google Shape;35;p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50" name="Google Shape;36;p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51" name="Google Shape;37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2" name="Google Shape;38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3" name="Google Shape;39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62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5" name="Google Shape;42;p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656" name="Google Shape;43;p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57" name="Google Shape;44;p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658" name="Google Shape;45;p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59" name="Google Shape;46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0" name="Google Shape;47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1" name="Google Shape;48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55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9" name="Google Shape;51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0" name="Google Shape;52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1" name="Google Shape;53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63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55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3" name="Google Shape;56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4" name="Google Shape;57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64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6" name="Google Shape;60;p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algn="l" indent="-3810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algn="l" indent="-355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algn="l" indent="-355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667" name="Google Shape;61;p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668" name="Google Shape;6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9" name="Google Shape;63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0" name="Google Shape;6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58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3" name="Google Shape;67;p1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</p:sp>
      <p:sp>
        <p:nvSpPr>
          <p:cNvPr id="1048634" name="Google Shape;68;p1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635" name="Google Shape;69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6" name="Google Shape;70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7" name="Google Shape;7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59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9" name="Google Shape;74;p1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40" name="Google Shape;75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1" name="Google Shape;76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2" name="Google Shape;77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56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3" name="Google Shape;80;p1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24" name="Google Shape;8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5" name="Google Shape;8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6" name="Google Shape;8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2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11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13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4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customXml" Target="../ink/ink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Google Shape;88;p13" descr="Abstract Statistics Blue Background Frame Border Stock Illustration -  Download Image Now - 2015, Abstract, Arrow Symbol - iStock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-1" y="0"/>
            <a:ext cx="12192001" cy="6858000"/>
          </a:xfrm>
          <a:prstGeom prst="rect"/>
          <a:noFill/>
          <a:ln>
            <a:noFill/>
          </a:ln>
        </p:spPr>
      </p:pic>
      <p:sp>
        <p:nvSpPr>
          <p:cNvPr id="1048594" name="Google Shape;89;p13"/>
          <p:cNvSpPr txBox="1"/>
          <p:nvPr/>
        </p:nvSpPr>
        <p:spPr>
          <a:xfrm>
            <a:off x="3719182" y="1601407"/>
            <a:ext cx="5047101" cy="105459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100000" lnSpcReduction="20000"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Times New Roman"/>
              <a:buNone/>
            </a:pPr>
            <a:r>
              <a:rPr b="1" cap="none" sz="4000" i="1" lang="en-US" strike="noStrike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Distribution</a:t>
            </a:r>
            <a:endParaRPr b="1" cap="none" sz="4000" i="1" strike="noStrike" u="non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5" name="Google Shape;90;p13"/>
          <p:cNvSpPr txBox="1"/>
          <p:nvPr/>
        </p:nvSpPr>
        <p:spPr>
          <a:xfrm>
            <a:off x="0" y="6307235"/>
            <a:ext cx="12184077" cy="463359"/>
          </a:xfrm>
          <a:prstGeom prst="rect"/>
          <a:solidFill>
            <a:srgbClr val="D8E2F3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0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CSE, ULAB</a:t>
            </a:r>
            <a:r>
              <a:rPr b="0" cap="none" sz="20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</a:p>
        </p:txBody>
      </p:sp>
      <p:cxnSp>
        <p:nvCxnSpPr>
          <p:cNvPr id="3145728" name="Google Shape;91;p13"/>
          <p:cNvCxnSpPr>
            <a:cxnSpLocks/>
          </p:cNvCxnSpPr>
          <p:nvPr/>
        </p:nvCxnSpPr>
        <p:spPr>
          <a:xfrm>
            <a:off x="-6" y="6255671"/>
            <a:ext cx="12184083" cy="0"/>
          </a:xfrm>
          <a:prstGeom prst="straightConnector1"/>
          <a:noFill/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8596" name="Google Shape;92;p13"/>
          <p:cNvSpPr txBox="1"/>
          <p:nvPr/>
        </p:nvSpPr>
        <p:spPr>
          <a:xfrm>
            <a:off x="3195744" y="2707562"/>
            <a:ext cx="5792581" cy="1526500"/>
          </a:xfrm>
          <a:prstGeom prst="rect"/>
          <a:solidFill>
            <a:srgbClr val="FFF2CC"/>
          </a:solidFill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500" i="0" lang="en-US" strike="noStrike" u="non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Ahsan Ullah</a:t>
            </a:r>
          </a:p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Department of CSE</a:t>
            </a:r>
          </a:p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Liberal Arts Bangladesh</a:t>
            </a:r>
            <a:endParaRPr b="1" cap="none" sz="25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7" name="Google Shape;93;p13"/>
          <p:cNvSpPr txBox="1"/>
          <p:nvPr/>
        </p:nvSpPr>
        <p:spPr>
          <a:xfrm>
            <a:off x="333439" y="6279526"/>
            <a:ext cx="2017876" cy="491068"/>
          </a:xfrm>
          <a:prstGeom prst="rect"/>
          <a:solidFill>
            <a:srgbClr val="FFF2CC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000" i="0" lang="en-US" strike="noStrike" u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10-08-25</a:t>
            </a:r>
            <a:endParaRPr b="0" cap="none" sz="2000" i="0" strike="noStrike" u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5" name="Google Shape;94;p13" descr="ULAB logo - SACMID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-6" y="102561"/>
            <a:ext cx="3719188" cy="1266848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Google Shape;99;p1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3493510" y="2957946"/>
            <a:ext cx="5343525" cy="1828800"/>
          </a:xfrm>
          <a:prstGeom prst="rect"/>
          <a:noFill/>
          <a:ln>
            <a:noFill/>
          </a:ln>
        </p:spPr>
      </p:pic>
      <p:pic>
        <p:nvPicPr>
          <p:cNvPr id="2097167" name="Google Shape;100;p1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4850390" y="1460355"/>
            <a:ext cx="2047875" cy="1304925"/>
          </a:xfrm>
          <a:prstGeom prst="rect"/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105;p15"/>
          <p:cNvSpPr/>
          <p:nvPr/>
        </p:nvSpPr>
        <p:spPr>
          <a:xfrm>
            <a:off x="415635" y="160338"/>
            <a:ext cx="11441201" cy="170816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000" i="0" lang="en-US" strike="noStrike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distribution:</a:t>
            </a:r>
          </a:p>
          <a:p>
            <a:pPr algn="just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500" i="0" lang="en-US" strike="noStrike" u="non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Statistics, the probability distribution gives the possibility of each outcome of a random experiment or event. It provides the probabilities of different possible occurrences.</a:t>
            </a:r>
            <a:endParaRPr b="0" cap="none" sz="25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3" name="Google Shape;106;p15"/>
          <p:cNvSpPr/>
          <p:nvPr/>
        </p:nvSpPr>
        <p:spPr>
          <a:xfrm>
            <a:off x="307975" y="2020897"/>
            <a:ext cx="11281916" cy="2015936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500" i="0" lang="en-US" strike="noStrike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Probability Distribution:</a:t>
            </a:r>
            <a:endParaRPr b="1" cap="none" sz="25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probability distribution is </a:t>
            </a:r>
            <a:r>
              <a:rPr b="0" cap="none" sz="2500" i="1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</a:t>
            </a:r>
            <a: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random variable takes a </a:t>
            </a:r>
            <a:r>
              <a:rPr b="1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</a:t>
            </a:r>
            <a: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countably infinite</a:t>
            </a:r>
            <a: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of distinct values.</a:t>
            </a:r>
            <a:b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b="0" cap="none" sz="2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heads in coin tosses, number of students in a class, rolling a die.</a:t>
            </a:r>
          </a:p>
        </p:txBody>
      </p:sp>
      <p:sp>
        <p:nvSpPr>
          <p:cNvPr id="1048604" name="Google Shape;107;p15"/>
          <p:cNvSpPr/>
          <p:nvPr/>
        </p:nvSpPr>
        <p:spPr>
          <a:xfrm>
            <a:off x="307975" y="4471796"/>
            <a:ext cx="11547721" cy="218442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500" i="0" lang="en-US" strike="noStrike" u="sng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Probability Distribution: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probability distribution is </a:t>
            </a:r>
            <a:r>
              <a:rPr sz="2500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</a:t>
            </a:r>
            <a:r>
              <a:rPr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random variable can take </a:t>
            </a:r>
            <a:r>
              <a:rPr b="1"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value within an interval</a:t>
            </a:r>
            <a:r>
              <a:rPr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(infinitely many possibilities that cannot be listed).</a:t>
            </a:r>
            <a:br>
              <a:rPr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</a:t>
            </a:r>
            <a:r>
              <a:rPr sz="2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of students, time taken to finish a race, temperature.</a:t>
            </a:r>
          </a:p>
        </p:txBody>
      </p:sp>
      <p:sp>
        <p:nvSpPr>
          <p:cNvPr id="1048605" name="Google Shape;108;p15" descr="Difference between Continuous and Discrete Uniform Distribution -  GeeksforGeeks"/>
          <p:cNvSpPr/>
          <p:nvPr/>
        </p:nvSpPr>
        <p:spPr>
          <a:xfrm>
            <a:off x="155575" y="-144463"/>
            <a:ext cx="304800" cy="3048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6" name="Google Shape;109;p15" descr="Probability Distribution - Function, Formula, Table - GeeksforGeeks"/>
          <p:cNvSpPr/>
          <p:nvPr/>
        </p:nvSpPr>
        <p:spPr>
          <a:xfrm>
            <a:off x="307975" y="7937"/>
            <a:ext cx="304800" cy="3048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7" name="Google Shape;110;p15" descr="Probability Distribution - Function, Formula, Table - GeeksforGeeks"/>
          <p:cNvSpPr/>
          <p:nvPr/>
        </p:nvSpPr>
        <p:spPr>
          <a:xfrm>
            <a:off x="612775" y="312737"/>
            <a:ext cx="304800" cy="30480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Google Shape;115;p1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3925" t="0" r="0" b="0"/>
          <a:stretch>
            <a:fillRect/>
          </a:stretch>
        </p:blipFill>
        <p:spPr>
          <a:xfrm>
            <a:off x="489943" y="378024"/>
            <a:ext cx="11212115" cy="5778062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Google Shape;120;p1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1050781" y="342899"/>
            <a:ext cx="9613478" cy="5933209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Google Shape;126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472786" y="299171"/>
            <a:ext cx="5067300" cy="523875"/>
          </a:xfrm>
          <a:prstGeom prst="rect"/>
          <a:noFill/>
          <a:ln>
            <a:noFill/>
          </a:ln>
        </p:spPr>
      </p:pic>
      <p:pic>
        <p:nvPicPr>
          <p:cNvPr id="2097171" name="Google Shape;127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472786" y="957570"/>
            <a:ext cx="9039225" cy="2524125"/>
          </a:xfrm>
          <a:prstGeom prst="rect"/>
          <a:noFill/>
          <a:ln>
            <a:noFill/>
          </a:ln>
        </p:spPr>
      </p:pic>
      <p:pic>
        <p:nvPicPr>
          <p:cNvPr id="2097172" name="Google Shape;128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 l="0" t="0" r="0" b="0"/>
          <a:stretch>
            <a:fillRect/>
          </a:stretch>
        </p:blipFill>
        <p:spPr>
          <a:xfrm>
            <a:off x="591095" y="3278763"/>
            <a:ext cx="8571181" cy="1778645"/>
          </a:xfrm>
          <a:prstGeom prst="rect"/>
          <a:noFill/>
          <a:ln>
            <a:noFill/>
          </a:ln>
        </p:spPr>
      </p:pic>
      <p:pic>
        <p:nvPicPr>
          <p:cNvPr id="2097173" name="Google Shape;129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 l="0" t="0" r="0" b="0"/>
          <a:stretch>
            <a:fillRect/>
          </a:stretch>
        </p:blipFill>
        <p:spPr>
          <a:xfrm>
            <a:off x="872836" y="5057408"/>
            <a:ext cx="8543925" cy="1666875"/>
          </a:xfrm>
          <a:prstGeom prst="rect"/>
          <a:noFill/>
          <a:ln>
            <a:noFill/>
          </a:ln>
        </p:spPr>
      </p:pic>
      <p:pic>
        <p:nvPicPr>
          <p:cNvPr id="2097174" name="Google Shape;130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 l="0" t="0" r="0" b="0"/>
          <a:stretch>
            <a:fillRect/>
          </a:stretch>
        </p:blipFill>
        <p:spPr>
          <a:xfrm>
            <a:off x="8345091" y="2719581"/>
            <a:ext cx="3846909" cy="1118362"/>
          </a:xfrm>
          <a:prstGeom prst="rect"/>
          <a:noFill/>
          <a:ln>
            <a:noFill/>
          </a:ln>
        </p:spPr>
      </p:pic>
      <p:sp>
        <p:nvSpPr>
          <p:cNvPr id="1048614" name="Google Shape;131;p18"/>
          <p:cNvSpPr txBox="1"/>
          <p:nvPr/>
        </p:nvSpPr>
        <p:spPr>
          <a:xfrm>
            <a:off x="4585855" y="281519"/>
            <a:ext cx="2327564" cy="4597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22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(Discrete)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209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/>
                                        <p:tgtEl>
                                          <p:spTgt spid="209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9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oogle Shape;136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416901" y="65941"/>
            <a:ext cx="9115425" cy="1800225"/>
          </a:xfrm>
          <a:prstGeom prst="rect"/>
          <a:noFill/>
          <a:ln>
            <a:noFill/>
          </a:ln>
        </p:spPr>
      </p:pic>
      <p:pic>
        <p:nvPicPr>
          <p:cNvPr id="2097160" name="Google Shape;137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2220790" y="1813228"/>
            <a:ext cx="5124450" cy="542925"/>
          </a:xfrm>
          <a:prstGeom prst="rect"/>
          <a:noFill/>
          <a:ln>
            <a:noFill/>
          </a:ln>
        </p:spPr>
      </p:pic>
      <p:pic>
        <p:nvPicPr>
          <p:cNvPr id="2097161" name="Google Shape;138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 l="0" t="0" r="0" b="0"/>
          <a:stretch>
            <a:fillRect/>
          </a:stretch>
        </p:blipFill>
        <p:spPr>
          <a:xfrm>
            <a:off x="2220790" y="2340858"/>
            <a:ext cx="4391025" cy="542925"/>
          </a:xfrm>
          <a:prstGeom prst="rect"/>
          <a:noFill/>
          <a:ln>
            <a:noFill/>
          </a:ln>
        </p:spPr>
      </p:pic>
      <p:pic>
        <p:nvPicPr>
          <p:cNvPr id="2097162" name="Google Shape;139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 l="0" t="0" r="0" b="0"/>
          <a:stretch>
            <a:fillRect/>
          </a:stretch>
        </p:blipFill>
        <p:spPr>
          <a:xfrm>
            <a:off x="402614" y="2927653"/>
            <a:ext cx="9029700" cy="1371600"/>
          </a:xfrm>
          <a:prstGeom prst="rect"/>
          <a:noFill/>
          <a:ln>
            <a:noFill/>
          </a:ln>
        </p:spPr>
      </p:pic>
      <p:pic>
        <p:nvPicPr>
          <p:cNvPr id="2097163" name="Google Shape;140;p1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 l="0" t="0" r="0" b="0"/>
          <a:stretch>
            <a:fillRect/>
          </a:stretch>
        </p:blipFill>
        <p:spPr>
          <a:xfrm>
            <a:off x="325315" y="4299253"/>
            <a:ext cx="8915400" cy="2505075"/>
          </a:xfrm>
          <a:prstGeom prst="rect"/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48677" name="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>
          <p:sp>
            <p:nvSpPr>
              <p:cNvPr id="1048677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Google Shape;145;p2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28600" y="114666"/>
            <a:ext cx="8991600" cy="1704975"/>
          </a:xfrm>
          <a:prstGeom prst="rect"/>
          <a:noFill/>
          <a:ln>
            <a:noFill/>
          </a:ln>
        </p:spPr>
      </p:pic>
      <p:pic>
        <p:nvPicPr>
          <p:cNvPr id="2097158" name="Google Shape;146;p2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193431" y="1817809"/>
            <a:ext cx="8886825" cy="493395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Google Shape;151;p2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01124" y="176579"/>
            <a:ext cx="8905875" cy="2495550"/>
          </a:xfrm>
          <a:prstGeom prst="rect"/>
          <a:noFill/>
          <a:ln>
            <a:noFill/>
          </a:ln>
        </p:spPr>
      </p:pic>
      <p:pic>
        <p:nvPicPr>
          <p:cNvPr id="2097155" name="Google Shape;152;p2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19841"/>
          <a:stretch>
            <a:fillRect/>
          </a:stretch>
        </p:blipFill>
        <p:spPr>
          <a:xfrm>
            <a:off x="360850" y="2542076"/>
            <a:ext cx="8867775" cy="4222140"/>
          </a:xfrm>
          <a:prstGeom prst="rect"/>
          <a:noFill/>
          <a:ln>
            <a:noFill/>
          </a:ln>
        </p:spPr>
      </p:pic>
      <p:pic>
        <p:nvPicPr>
          <p:cNvPr id="2097156" name="Google Shape;153;p2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82605" r="0" b="0"/>
          <a:stretch>
            <a:fillRect/>
          </a:stretch>
        </p:blipFill>
        <p:spPr>
          <a:xfrm rot="-3921732">
            <a:off x="6360502" y="3128231"/>
            <a:ext cx="8867775" cy="916231"/>
          </a:xfrm>
          <a:prstGeom prst="rect"/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58;p2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37026" y="232996"/>
            <a:ext cx="8810625" cy="2171700"/>
          </a:xfrm>
          <a:prstGeom prst="rect"/>
          <a:noFill/>
          <a:ln>
            <a:noFill/>
          </a:ln>
        </p:spPr>
      </p:pic>
      <p:pic>
        <p:nvPicPr>
          <p:cNvPr id="2097153" name="Google Shape;159;p2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 l="0" t="0" r="0" b="0"/>
          <a:stretch>
            <a:fillRect/>
          </a:stretch>
        </p:blipFill>
        <p:spPr>
          <a:xfrm>
            <a:off x="237026" y="2404696"/>
            <a:ext cx="8772525" cy="32766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23043RP34G</dc:creator>
  <dcterms:created xsi:type="dcterms:W3CDTF">2025-11-10T09:11:40Z</dcterms:created>
  <dcterms:modified xsi:type="dcterms:W3CDTF">2025-11-10T09:11:40Z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bc62de654d5a438c95f36e190d0e7150</vt:lpwstr>
  </property>
</Properties>
</file>